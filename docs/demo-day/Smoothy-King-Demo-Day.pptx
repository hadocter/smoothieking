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34b60d4dd294acb" /><Relationship Type="http://schemas.openxmlformats.org/officeDocument/2006/relationships/extended-properties" Target="/docProps/app.xml" Id="Rad0b3e5bdefc4fa0" /><Relationship Type="http://schemas.openxmlformats.org/officeDocument/2006/relationships/officeDocument" Target="/ppt/presentation.xml" Id="Rfd32e7a329d947b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dcfaf5571f244a3"/>
  </p:sldMasterIdLst>
  <p:notesMasterIdLst>
    <p:notesMasterId xmlns:r="http://schemas.openxmlformats.org/officeDocument/2006/relationships" r:id="R6bb55913854b4d9f"/>
  </p:notesMasterIdLst>
  <p:sldIdLst>
    <p:sldId xmlns:r="http://schemas.openxmlformats.org/officeDocument/2006/relationships" id="256" r:id="R0ed962009887415e"/>
    <p:sldId xmlns:r="http://schemas.openxmlformats.org/officeDocument/2006/relationships" id="257" r:id="Rffc88493a9684baa"/>
    <p:sldId xmlns:r="http://schemas.openxmlformats.org/officeDocument/2006/relationships" id="258" r:id="Rb8de374480b64508"/>
    <p:sldId xmlns:r="http://schemas.openxmlformats.org/officeDocument/2006/relationships" id="259" r:id="R4bba121a81604417"/>
    <p:sldId xmlns:r="http://schemas.openxmlformats.org/officeDocument/2006/relationships" id="260" r:id="R8021a60f47614f9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625fa954aee432b" /><Relationship Type="http://schemas.openxmlformats.org/officeDocument/2006/relationships/slideMaster" Target="/ppt/slideMasters/slideMaster1.xml" Id="R9dcfaf5571f244a3" /><Relationship Type="http://schemas.openxmlformats.org/officeDocument/2006/relationships/notesMaster" Target="/ppt/notesMasters/notesMaster1.xml" Id="R6bb55913854b4d9f" /><Relationship Type="http://schemas.openxmlformats.org/officeDocument/2006/relationships/presProps" Target="/ppt/presProps.xml" Id="R0cee913acc644459" /><Relationship Type="http://schemas.openxmlformats.org/officeDocument/2006/relationships/tableStyles" Target="/ppt/tableStyles.xml" Id="R540f44367c284d13" /><Relationship Type="http://schemas.openxmlformats.org/officeDocument/2006/relationships/slide" Target="/ppt/slides/slide1.xml" Id="R0ed962009887415e" /><Relationship Type="http://schemas.openxmlformats.org/officeDocument/2006/relationships/slide" Target="/ppt/slides/slide2.xml" Id="Rffc88493a9684baa" /><Relationship Type="http://schemas.openxmlformats.org/officeDocument/2006/relationships/slide" Target="/ppt/slides/slide3.xml" Id="Rb8de374480b64508" /><Relationship Type="http://schemas.openxmlformats.org/officeDocument/2006/relationships/slide" Target="/ppt/slides/slide4.xml" Id="R4bba121a81604417" /><Relationship Type="http://schemas.openxmlformats.org/officeDocument/2006/relationships/slide" Target="/ppt/slides/slide5.xml" Id="R8021a60f47614f9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018e281f27148b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59708810d184fbc" /><Relationship Type="http://schemas.openxmlformats.org/officeDocument/2006/relationships/notesMaster" Target="/ppt/notesMasters/notesMaster1.xml" Id="R6afa24f1462847c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4eba148c6d34991" /><Relationship Type="http://schemas.openxmlformats.org/officeDocument/2006/relationships/notesMaster" Target="/ppt/notesMasters/notesMaster1.xml" Id="R25149b57cbdc4d6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36f0b5c2d944fb1" /><Relationship Type="http://schemas.openxmlformats.org/officeDocument/2006/relationships/notesMaster" Target="/ppt/notesMasters/notesMaster1.xml" Id="R7afeb9d8cb1a43c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17c465a4578429e" /><Relationship Type="http://schemas.openxmlformats.org/officeDocument/2006/relationships/notesMaster" Target="/ppt/notesMasters/notesMaster1.xml" Id="R73909430a6ea4dd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eb27f03c8464746" /><Relationship Type="http://schemas.openxmlformats.org/officeDocument/2006/relationships/notesMaster" Target="/ppt/notesMasters/notesMaster1.xml" Id="R6befed03451c4f3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user, not the technology. The product starts when someone has a goal but does not know what to make.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 README.md and docs/README.md — product summary and current catalog figures.</a:t>
            </a:r>
          </a:p>
          <a:p xmlns:a="http://schemas.openxmlformats.org/drawingml/2006/main">
            <a:r>
              <a:t>- User-provided reference: Smoothy King — A smoothie built for today (8_11_2026 4：07：45 PM).html.</a:t>
            </a:r>
          </a:p>
          <a:p xmlns:a="http://schemas.openxmlformats.org/drawingml/2006/main">
            <a:r>
              <a:t>- Food image: artifacts/smoothy-king/public/food/ingredients/cold-green-tea.jpg; source policy: public/food/CREDITS.md.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Point out that the catalog is intentionally controlled rather than infinitely open-ended. The app can inspect every catalog ingredient and use it consistently.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screenshot captured from local production rehearsal: /private/tmp/smoothy-demo/ingredients.png.</a:t>
            </a:r>
          </a:p>
          <a:p xmlns:a="http://schemas.openxmlformats.org/drawingml/2006/main">
            <a:r>
              <a:t>- Repository README.md — controlled catalog and deterministic checks.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this slide short, then leave the slides and perform the live loop. The best proof is a new user completing the path without explanation.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screenshot captured from local production rehearsal: /private/tmp/smoothy-demo/public-recipes.png.</a:t>
            </a:r>
          </a:p>
          <a:p xmlns:a="http://schemas.openxmlformats.org/drawingml/2006/main">
            <a:r>
              <a:t>- docs/demo-day.md — live demo path.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technical trust point. Do not say the model makes a safe smoothie; the controlled code path does that work. If the model is unavailable, the product uses keyword matching.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 — What makes the recommendation trustworthy.</a:t>
            </a:r>
          </a:p>
          <a:p xmlns:a="http://schemas.openxmlformats.org/drawingml/2006/main">
            <a:r>
              <a:t>- docs/ai-collaboration.md — in-product AI boundary.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the product’s actual value and volunteer two limitations. Owning the gaps makes the safety boundary credible. Invite questions, then return to the live product if useful.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 — Honest limits and deployment checklist.</a:t>
            </a:r>
          </a:p>
          <a:p xmlns:a="http://schemas.openxmlformats.org/drawingml/2006/main">
            <a:r>
              <a:t>- docs/demo-day.md — direct Q&amp;A answers.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956667a9be44c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155d1a1eb56406e" /><Relationship Type="http://schemas.openxmlformats.org/officeDocument/2006/relationships/slideLayout" Target="/ppt/slideLayouts/slideLayout1.xml" Id="Rd61209e7a994428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61209e7a994428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b81aa6a361402e" /><Relationship Type="http://schemas.openxmlformats.org/officeDocument/2006/relationships/image" Target="/ppt/media/image.jpeg" Id="Raef2e8f7a4524df0" /><Relationship Type="http://schemas.openxmlformats.org/officeDocument/2006/relationships/notesSlide" Target="/ppt/notesSlides/notesSlide1.xml" Id="R5a05a61d6bc148c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9d9f9b87a0418d" /><Relationship Type="http://schemas.openxmlformats.org/officeDocument/2006/relationships/image" Target="/ppt/media/image2.jpeg" Id="Rc4ee8a2c0a164ae5" /><Relationship Type="http://schemas.openxmlformats.org/officeDocument/2006/relationships/notesSlide" Target="/ppt/notesSlides/notesSlide2.xml" Id="R96c3f7920273439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0856767d4c443e" /><Relationship Type="http://schemas.openxmlformats.org/officeDocument/2006/relationships/image" Target="/ppt/media/image3.jpeg" Id="Rdbf3cb3f0ab94105" /><Relationship Type="http://schemas.openxmlformats.org/officeDocument/2006/relationships/notesSlide" Target="/ppt/notesSlides/notesSlide3.xml" Id="R631b8c862c23406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d8da6650d041fc" /><Relationship Type="http://schemas.openxmlformats.org/officeDocument/2006/relationships/notesSlide" Target="/ppt/notesSlides/notesSlide4.xml" Id="R7a920abfcd13496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944ec238c9467f" /><Relationship Type="http://schemas.openxmlformats.org/officeDocument/2006/relationships/notesSlide" Target="/ppt/notesSlides/notesSlide5.xml" Id="Raad9025fbf594d4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f2e8f7a4524df0"/>
          <a:srcRect xmlns:a="http://schemas.openxmlformats.org/drawingml/2006/main" l="25917" t="0" r="2591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86550" y="0"/>
            <a:ext cx="55054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156FB4B8-AD19-4805-B523-B5E1D3DA1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45844"/>
                </a:solidFill>
              </a:defRPr>
            </a:pPr>
            <a:r>
              <a:rPr sz="1125" b="1">
                <a:solidFill>
                  <a:srgbClr val="245844"/>
                </a:solidFill>
              </a:rPr>
              <a:t>SMOOTHY KING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725D1A6-FB08-41B5-AFD8-0FED8D29B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5619750" cy="2619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050" b="0">
                <a:solidFill>
                  <a:srgbClr val="173E32"/>
                </a:solidFill>
              </a:defRPr>
            </a:pPr>
            <a:r>
              <a:rPr sz="4050" b="0">
                <a:solidFill>
                  <a:srgbClr val="173E32"/>
                </a:solidFill>
              </a:rPr>
              <a:t>43 ingredients.</a:t>
            </a:r>
          </a:p>
          <a:p xmlns:a="http://schemas.openxmlformats.org/drawingml/2006/main">
            <a:pPr>
              <a:defRPr sz="4050" b="0">
                <a:solidFill>
                  <a:srgbClr val="173E32"/>
                </a:solidFill>
              </a:defRPr>
            </a:pPr>
            <a:r>
              <a:rPr sz="4050" b="0">
                <a:solidFill>
                  <a:srgbClr val="173E32"/>
                </a:solidFill>
              </a:rPr>
              <a:t>440,640 drinks.</a:t>
            </a:r>
          </a:p>
          <a:p xmlns:a="http://schemas.openxmlformats.org/drawingml/2006/main">
            <a:pPr>
              <a:defRPr sz="4050" b="0">
                <a:solidFill>
                  <a:srgbClr val="173E32"/>
                </a:solidFill>
              </a:defRPr>
            </a:pPr>
            <a:r>
              <a:rPr sz="4050" b="0">
                <a:solidFill>
                  <a:srgbClr val="173E32"/>
                </a:solidFill>
              </a:rPr>
              <a:t>One of them is today’s.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509888AE-046E-4037-90E6-5E0AD3071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10075"/>
            <a:ext cx="504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61766D"/>
                </a:solidFill>
              </a:defRPr>
            </a:pPr>
            <a:r>
              <a:rPr sz="1800">
                <a:solidFill>
                  <a:srgbClr val="61766D"/>
                </a:solidFill>
              </a:rPr>
              <a:t>A smoothie built for today: a goal-aware path from everyday constraints to a repeatable drink plan and weekly ingredient list.</a:t>
            </a:r>
          </a:p>
        </p:txBody>
      </p:sp>
      <p:sp>
        <p:nvSpPr>
          <p:cNvPr id="5" name="live-label">
            <a:extLst xmlns:a="http://schemas.openxmlformats.org/drawingml/2006/main">
              <a:ext uri="{FF2B5EF4-FFF2-40B4-BE49-F238E27FC236}">
                <a16:creationId xmlns:a16="http://schemas.microsoft.com/office/drawing/2014/main" id="{ABC16250-7179-4B45-88D0-FA1BD815D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912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45844"/>
                </a:solidFill>
              </a:defRPr>
            </a:pPr>
            <a:r>
              <a:rPr sz="1275" b="1">
                <a:solidFill>
                  <a:srgbClr val="245844"/>
                </a:solidFill>
              </a:rPr>
              <a:t>Live demo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064D5A-A1E7-4083-9AC6-85E0A4296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1766D"/>
                </a:solidFill>
              </a:defRPr>
            </a:pPr>
            <a:r>
              <a:rPr sz="825" b="1">
                <a:solidFill>
                  <a:srgbClr val="61766D"/>
                </a:solidFill>
              </a:rPr>
              <a:t>SMOOTHY KING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0FE7BF-24D8-4114-9799-8556A3738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1766D"/>
                </a:solidFill>
              </a:defRPr>
            </a:pPr>
            <a:r>
              <a:rPr sz="825" b="1">
                <a:solidFill>
                  <a:srgbClr val="61766D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4564123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D3B131-4A5C-4499-B798-C759E1492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45844"/>
                </a:solidFill>
              </a:defRPr>
            </a:pPr>
            <a:r>
              <a:rPr sz="1050" b="1">
                <a:solidFill>
                  <a:srgbClr val="245844"/>
                </a:solidFill>
              </a:rPr>
              <a:t>THE GAP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8001E1-BC28-4F6B-89C9-D906310F8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409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>
                <a:solidFill>
                  <a:srgbClr val="173E32"/>
                </a:solidFill>
              </a:defRPr>
            </a:pPr>
            <a:r>
              <a:rPr sz="3600">
                <a:solidFill>
                  <a:srgbClr val="173E32"/>
                </a:solidFill>
              </a:rPr>
              <a:t>Recipe apps begin</a:t>
            </a:r>
          </a:p>
          <a:p xmlns:a="http://schemas.openxmlformats.org/drawingml/2006/main">
            <a:pPr>
              <a:defRPr sz="3600">
                <a:solidFill>
                  <a:srgbClr val="173E32"/>
                </a:solidFill>
              </a:defRPr>
            </a:pPr>
            <a:r>
              <a:rPr sz="3600">
                <a:solidFill>
                  <a:srgbClr val="173E32"/>
                </a:solidFill>
              </a:rPr>
              <a:t>with a recipe.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4D10FD-1669-464E-AFCD-7A3001A1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3714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61766D"/>
                </a:solidFill>
              </a:defRPr>
            </a:pPr>
            <a:r>
              <a:rPr sz="1800">
                <a:solidFill>
                  <a:srgbClr val="61766D"/>
                </a:solidFill>
              </a:rPr>
              <a:t>But the real morning starts with a goal, a constraint, and whatever is actually in the kitchen.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F2C35B-FBD0-49B0-8F11-85E06C06D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4000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45844"/>
                </a:solidFill>
              </a:defRPr>
            </a:pPr>
            <a:r>
              <a:rPr sz="1875" b="1">
                <a:solidFill>
                  <a:srgbClr val="245844"/>
                </a:solidFill>
              </a:rPr>
              <a:t>Smoothy King gives that starting point a checked path forward.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ee8a2c0a164ae5"/>
          <a:srcRect xmlns:a="http://schemas.openxmlformats.org/drawingml/2006/main" l="16333" t="0" r="1633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53050" y="781050"/>
            <a:ext cx="6153150" cy="5143500"/>
          </a:xfrm>
          <a:prstGeom xmlns:a="http://schemas.openxmlformats.org/drawingml/2006/main" prst="roundRect">
            <a:avLst>
              <a:gd name="adj" fmla="val 2963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EADEFB-6316-44BB-9B7C-DDB53AEA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1766D"/>
                </a:solidFill>
              </a:defRPr>
            </a:pPr>
            <a:r>
              <a:rPr sz="825" b="1">
                <a:solidFill>
                  <a:srgbClr val="61766D"/>
                </a:solidFill>
              </a:rPr>
              <a:t>SMOOTHY KING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51A411-F368-4369-9404-907702F9D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1766D"/>
                </a:solidFill>
              </a:defRPr>
            </a:pPr>
            <a:r>
              <a:rPr sz="825" b="1">
                <a:solidFill>
                  <a:srgbClr val="61766D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71842933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8F22A2-10AE-43D0-A22A-9F5B8804B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45844"/>
                </a:solidFill>
              </a:defRPr>
            </a:pPr>
            <a:r>
              <a:rPr sz="1050" b="1">
                <a:solidFill>
                  <a:srgbClr val="245844"/>
                </a:solidFill>
              </a:rPr>
              <a:t>THE ONE CORE THING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C08EE8-C5E1-4353-ACBA-0F80CFC85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4762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525">
                <a:solidFill>
                  <a:srgbClr val="173E32"/>
                </a:solidFill>
              </a:defRPr>
            </a:pPr>
            <a:r>
              <a:rPr sz="3525">
                <a:solidFill>
                  <a:srgbClr val="173E32"/>
                </a:solidFill>
              </a:rPr>
              <a:t>A few answers become</a:t>
            </a:r>
          </a:p>
          <a:p xmlns:a="http://schemas.openxmlformats.org/drawingml/2006/main">
            <a:pPr>
              <a:defRPr sz="3525">
                <a:solidFill>
                  <a:srgbClr val="173E32"/>
                </a:solidFill>
              </a:defRPr>
            </a:pPr>
            <a:r>
              <a:rPr sz="3525">
                <a:solidFill>
                  <a:srgbClr val="173E32"/>
                </a:solidFill>
              </a:rPr>
              <a:t>a plan you can act 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FEA627-4187-4EA5-8ADC-AC860133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19450"/>
            <a:ext cx="4095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45844"/>
                </a:solidFill>
              </a:defRPr>
            </a:pPr>
            <a:r>
              <a:rPr sz="1875">
                <a:solidFill>
                  <a:srgbClr val="245844"/>
                </a:solidFill>
              </a:rPr>
              <a:t>1  Tell us the goal and constraints</a:t>
            </a:r>
          </a:p>
          <a:p xmlns:a="http://schemas.openxmlformats.org/drawingml/2006/main">
            <a:pPr>
              <a:defRPr sz="1875">
                <a:solidFill>
                  <a:srgbClr val="245844"/>
                </a:solidFill>
              </a:defRPr>
            </a:pPr>
            <a:r>
              <a:rPr sz="1875">
                <a:solidFill>
                  <a:srgbClr val="245844"/>
                </a:solidFill>
              </a:rPr>
              <a:t>2  Build a checked drink</a:t>
            </a:r>
          </a:p>
          <a:p xmlns:a="http://schemas.openxmlformats.org/drawingml/2006/main">
            <a:pPr>
              <a:defRPr sz="1875">
                <a:solidFill>
                  <a:srgbClr val="245844"/>
                </a:solidFill>
              </a:defRPr>
            </a:pPr>
            <a:r>
              <a:rPr sz="1875">
                <a:solidFill>
                  <a:srgbClr val="245844"/>
                </a:solidFill>
              </a:rPr>
              <a:t>3  Log it and plan the week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4DFDEE-5CDF-4A4B-9A6A-C0CF2E536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3905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1766D"/>
                </a:solidFill>
              </a:defRPr>
            </a:pPr>
            <a:r>
              <a:rPr sz="1500">
                <a:solidFill>
                  <a:srgbClr val="61766D"/>
                </a:solidFill>
              </a:rPr>
              <a:t>In the live demo, mark one ingredient unavailable and choose a safe alternative—or skip it.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f3cb3f0ab94105"/>
          <a:srcRect xmlns:a="http://schemas.openxmlformats.org/drawingml/2006/main" l="15065" t="0" r="1506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34000" y="876300"/>
            <a:ext cx="6172200" cy="4972050"/>
          </a:xfrm>
          <a:prstGeom xmlns:a="http://schemas.openxmlformats.org/drawingml/2006/main" prst="roundRect">
            <a:avLst>
              <a:gd name="adj" fmla="val 3065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810194-371D-4A15-9750-AD3ED3302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1766D"/>
                </a:solidFill>
              </a:defRPr>
            </a:pPr>
            <a:r>
              <a:rPr sz="825" b="1">
                <a:solidFill>
                  <a:srgbClr val="61766D"/>
                </a:solidFill>
              </a:rPr>
              <a:t>SMOOTHY KING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7494AA-8DAE-4898-A292-C4B1E5DEF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1766D"/>
                </a:solidFill>
              </a:defRPr>
            </a:pPr>
            <a:r>
              <a:rPr sz="825" b="1">
                <a:solidFill>
                  <a:srgbClr val="61766D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7375511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24584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362A29-E628-4EC8-B61D-EED1C2D5A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A7CCAF"/>
                </a:solidFill>
              </a:defRPr>
            </a:pPr>
            <a:r>
              <a:rPr sz="1050" b="1">
                <a:solidFill>
                  <a:srgbClr val="A7CCAF"/>
                </a:solidFill>
              </a:rPr>
              <a:t>THE TRUST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FCF5DA-699C-4FAC-991A-743FF41C3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7858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75">
                <a:solidFill>
                  <a:srgbClr val="FFFFFF"/>
                </a:solidFill>
              </a:defRPr>
            </a:pPr>
            <a:r>
              <a:rPr sz="3675">
                <a:solidFill>
                  <a:srgbClr val="FFFFFF"/>
                </a:solidFill>
              </a:rPr>
              <a:t>AI understands the request.</a:t>
            </a:r>
          </a:p>
          <a:p xmlns:a="http://schemas.openxmlformats.org/drawingml/2006/main">
            <a:pPr>
              <a:defRPr sz="3675">
                <a:solidFill>
                  <a:srgbClr val="FFFFFF"/>
                </a:solidFill>
              </a:defRPr>
            </a:pPr>
            <a:r>
              <a:rPr sz="3675">
                <a:solidFill>
                  <a:srgbClr val="FFFFFF"/>
                </a:solidFill>
              </a:rPr>
              <a:t>Code decides the drink.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66BEB7-5AD4-4CF8-B374-15ACFB771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2425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2B27A"/>
                </a:solidFill>
              </a:defRPr>
            </a:pPr>
            <a:r>
              <a:rPr sz="1050" b="1">
                <a:solidFill>
                  <a:srgbClr val="F2B27A"/>
                </a:solidFill>
              </a:rPr>
              <a:t>OPTIONAL AI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3D6CC4-C60D-4A2F-A3EF-67DB1AB2C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24300"/>
            <a:ext cx="3714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FFFFFF"/>
                </a:solidFill>
              </a:defRPr>
            </a:pPr>
            <a:r>
              <a:rPr sz="1875">
                <a:solidFill>
                  <a:srgbClr val="FFFFFF"/>
                </a:solidFill>
              </a:rPr>
              <a:t>Maps everyday language</a:t>
            </a:r>
          </a:p>
          <a:p xmlns:a="http://schemas.openxmlformats.org/drawingml/2006/main">
            <a:pPr>
              <a:defRPr sz="1875">
                <a:solidFill>
                  <a:srgbClr val="FFFFFF"/>
                </a:solidFill>
              </a:defRPr>
            </a:pPr>
            <a:r>
              <a:rPr sz="1875">
                <a:solidFill>
                  <a:srgbClr val="FFFFFF"/>
                </a:solidFill>
              </a:rPr>
              <a:t>to controlled choices</a:t>
            </a:r>
          </a:p>
          <a:p xmlns:a="http://schemas.openxmlformats.org/drawingml/2006/main">
            <a:pPr>
              <a:defRPr sz="1875">
                <a:solidFill>
                  <a:srgbClr val="FFFFFF"/>
                </a:solidFill>
              </a:defRPr>
            </a:pPr>
            <a:r>
              <a:rPr sz="1875">
                <a:solidFill>
                  <a:srgbClr val="FFFFFF"/>
                </a:solidFill>
              </a:rPr>
              <a:t>and writes a name/story.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C3C894-9FF4-4BFA-AEF6-DB6410A09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242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2B27A"/>
                </a:solidFill>
              </a:defRPr>
            </a:pPr>
            <a:r>
              <a:rPr sz="1050" b="1">
                <a:solidFill>
                  <a:srgbClr val="F2B27A"/>
                </a:solidFill>
              </a:rPr>
              <a:t>DETERMINISTIC CODE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C61F8C-8F0F-4CBF-9D44-9F5CDDC42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924300"/>
            <a:ext cx="4000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FFFFFF"/>
                </a:solidFill>
              </a:defRPr>
            </a:pPr>
            <a:r>
              <a:rPr sz="1875">
                <a:solidFill>
                  <a:srgbClr val="FFFFFF"/>
                </a:solidFill>
              </a:rPr>
              <a:t>Chooses ingredients,</a:t>
            </a:r>
          </a:p>
          <a:p xmlns:a="http://schemas.openxmlformats.org/drawingml/2006/main">
            <a:pPr>
              <a:defRPr sz="1875">
                <a:solidFill>
                  <a:srgbClr val="FFFFFF"/>
                </a:solidFill>
              </a:defRPr>
            </a:pPr>
            <a:r>
              <a:rPr sz="1875">
                <a:solidFill>
                  <a:srgbClr val="FFFFFF"/>
                </a:solidFill>
              </a:rPr>
              <a:t>checks slots and exclusions,</a:t>
            </a:r>
          </a:p>
          <a:p xmlns:a="http://schemas.openxmlformats.org/drawingml/2006/main">
            <a:pPr>
              <a:defRPr sz="1875">
                <a:solidFill>
                  <a:srgbClr val="FFFFFF"/>
                </a:solidFill>
              </a:defRPr>
            </a:pPr>
            <a:r>
              <a:rPr sz="1875">
                <a:solidFill>
                  <a:srgbClr val="FFFFFF"/>
                </a:solidFill>
              </a:rPr>
              <a:t>and totals nutrition.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3660A6-0E90-4C2D-B79A-A7C39160E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885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A7CCAF"/>
                </a:solidFill>
              </a:defRPr>
            </a:pPr>
            <a:r>
              <a:rPr sz="1575" b="1">
                <a:solidFill>
                  <a:srgbClr val="A7CCAF"/>
                </a:solidFill>
              </a:rPr>
              <a:t>No model decides allergens, quantities, or whether a drink is safe to show.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03CDA7-5506-4827-9CF5-37CB134B1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1766D"/>
                </a:solidFill>
              </a:defRPr>
            </a:pPr>
            <a:r>
              <a:rPr sz="825" b="1">
                <a:solidFill>
                  <a:srgbClr val="61766D"/>
                </a:solidFill>
              </a:rPr>
              <a:t>SMOOTHY KING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472F03-F2BF-499F-A2A3-1D410C5DF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1766D"/>
                </a:solidFill>
              </a:defRPr>
            </a:pPr>
            <a:r>
              <a:rPr sz="825" b="1">
                <a:solidFill>
                  <a:srgbClr val="61766D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58653288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CA9A9C-DA60-40F0-A2AA-7D12CEEE4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45844"/>
                </a:solidFill>
              </a:defRPr>
            </a:pPr>
            <a:r>
              <a:rPr sz="1050" b="1">
                <a:solidFill>
                  <a:srgbClr val="245844"/>
                </a:solidFill>
              </a:rPr>
              <a:t>READY FOR A LIVE 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E1EF18-B930-474B-97E9-43F63C113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619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>
                <a:solidFill>
                  <a:srgbClr val="173E32"/>
                </a:solidFill>
              </a:defRPr>
            </a:pPr>
            <a:r>
              <a:rPr sz="3900">
                <a:solidFill>
                  <a:srgbClr val="173E32"/>
                </a:solidFill>
              </a:rPr>
              <a:t>A useful plan is better</a:t>
            </a:r>
          </a:p>
          <a:p xmlns:a="http://schemas.openxmlformats.org/drawingml/2006/main">
            <a:pPr>
              <a:defRPr sz="3900">
                <a:solidFill>
                  <a:srgbClr val="173E32"/>
                </a:solidFill>
              </a:defRPr>
            </a:pPr>
            <a:r>
              <a:rPr sz="3900">
                <a:solidFill>
                  <a:srgbClr val="173E32"/>
                </a:solidFill>
              </a:rPr>
              <a:t>than a beautiful guess.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FE6762-54B2-4665-9B41-59C1F07A5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45844"/>
                </a:solidFill>
              </a:defRPr>
            </a:pPr>
            <a:r>
              <a:rPr sz="1650" b="1">
                <a:solidFill>
                  <a:srgbClr val="245844"/>
                </a:solidFill>
              </a:rPr>
              <a:t>What works today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CDC424-569D-461D-9CE6-05EA73761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0"/>
            <a:ext cx="45720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1766D"/>
                </a:solidFill>
              </a:defRPr>
            </a:pPr>
            <a:r>
              <a:rPr sz="1575">
                <a:solidFill>
                  <a:srgbClr val="61766D"/>
                </a:solidFill>
              </a:rPr>
              <a:t>Goal → checked smoothie → weekly plan</a:t>
            </a:r>
          </a:p>
          <a:p xmlns:a="http://schemas.openxmlformats.org/drawingml/2006/main">
            <a:pPr>
              <a:defRPr sz="1575">
                <a:solidFill>
                  <a:srgbClr val="61766D"/>
                </a:solidFill>
              </a:defRPr>
            </a:pPr>
            <a:r>
              <a:rPr sz="1575">
                <a:solidFill>
                  <a:srgbClr val="61766D"/>
                </a:solidFill>
              </a:rPr>
              <a:t>Account-level privacy and authentication</a:t>
            </a:r>
          </a:p>
          <a:p xmlns:a="http://schemas.openxmlformats.org/drawingml/2006/main">
            <a:pPr>
              <a:defRPr sz="1575">
                <a:solidFill>
                  <a:srgbClr val="61766D"/>
                </a:solidFill>
              </a:defRPr>
            </a:pPr>
            <a:r>
              <a:rPr sz="1575">
                <a:solidFill>
                  <a:srgbClr val="61766D"/>
                </a:solidFill>
              </a:rPr>
              <a:t>A deployable container with a health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A14B5F-ECB5-460E-BD9D-22CB05910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242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45844"/>
                </a:solidFill>
              </a:defRPr>
            </a:pPr>
            <a:r>
              <a:rPr sz="1650" b="1">
                <a:solidFill>
                  <a:srgbClr val="245844"/>
                </a:solidFill>
              </a:rPr>
              <a:t>What comes next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7451AB-96D7-47FD-B7E8-EBE02654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00500"/>
            <a:ext cx="447675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1766D"/>
                </a:solidFill>
              </a:defRPr>
            </a:pPr>
            <a:r>
              <a:rPr sz="1575">
                <a:solidFill>
                  <a:srgbClr val="61766D"/>
                </a:solidFill>
              </a:rPr>
              <a:t>Taste pairing and adaptation</a:t>
            </a:r>
          </a:p>
          <a:p xmlns:a="http://schemas.openxmlformats.org/drawingml/2006/main">
            <a:pPr>
              <a:defRPr sz="1575">
                <a:solidFill>
                  <a:srgbClr val="61766D"/>
                </a:solidFill>
              </a:defRPr>
            </a:pPr>
            <a:r>
              <a:rPr sz="1575">
                <a:solidFill>
                  <a:srgbClr val="61766D"/>
                </a:solidFill>
              </a:rPr>
              <a:t>Shaker-only routes for no-blender users</a:t>
            </a:r>
          </a:p>
          <a:p xmlns:a="http://schemas.openxmlformats.org/drawingml/2006/main">
            <a:pPr>
              <a:defRPr sz="1575">
                <a:solidFill>
                  <a:srgbClr val="61766D"/>
                </a:solidFill>
              </a:defRPr>
            </a:pPr>
            <a:r>
              <a:rPr sz="1575">
                <a:solidFill>
                  <a:srgbClr val="61766D"/>
                </a:solidFill>
              </a:rPr>
              <a:t>Medication/pregnancy interaction data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C6099C-66FD-45C5-B99C-76D46EB1C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57875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45844"/>
                </a:solidFill>
              </a:defRPr>
            </a:pPr>
            <a:r>
              <a:rPr sz="1350" b="1">
                <a:solidFill>
                  <a:srgbClr val="245844"/>
                </a:solidFill>
              </a:rPr>
              <a:t>github.com/hadocter/SmoothieKing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780D8D-A434-4E1C-9A5F-410AA3148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1766D"/>
                </a:solidFill>
              </a:defRPr>
            </a:pPr>
            <a:r>
              <a:rPr sz="825" b="1">
                <a:solidFill>
                  <a:srgbClr val="61766D"/>
                </a:solidFill>
              </a:rPr>
              <a:t>SMOOTHY KING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71073F-9D05-4B6C-870A-726D7FD9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1766D"/>
                </a:solidFill>
              </a:defRPr>
            </a:pPr>
            <a:r>
              <a:rPr sz="825" b="1">
                <a:solidFill>
                  <a:srgbClr val="61766D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7946891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2026-08-11T23:15:59.5910000Z</dcterms:created>
  <dcterms:modified xsi:type="dcterms:W3CDTF">2026-08-11T23:15:59.5910000Z</dcterms:modified>
</coreProperties>
</file>